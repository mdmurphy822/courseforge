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t>Quarterly Revenue Growth</a:t>
            </a:r>
          </a:p>
        </c:rich>
      </c:tx>
      <c:layout/>
      <c:overlay val="0"/>
    </c:title>
    <c:autoTitleDeleted val="0"/>
    <c:plotArea>
      <c:lineChart>
        <c:grouping val="standard"/>
        <c:varyColors val="0"/>
        <c:ser>
          <c:idx val="0"/>
          <c:order val="0"/>
          <c:tx>
            <c:strRef>
              <c:f>Sheet1!$B$1</c:f>
              <c:strCache>
                <c:ptCount val="1"/>
                <c:pt idx="0">
                  <c:v>Revenue ($K)</c:v>
                </c:pt>
              </c:strCache>
            </c:strRef>
          </c:tx>
          <c:cat>
            <c:strRef>
              <c:f>Sheet1!$A$2:$A$13</c:f>
              <c:strCache>
                <c:ptCount val="12"/>
                <c:pt idx="0">
                  <c:v>Q1 Y1</c:v>
                </c:pt>
                <c:pt idx="1">
                  <c:v>Q2 Y1</c:v>
                </c:pt>
                <c:pt idx="2">
                  <c:v>Q3 Y1</c:v>
                </c:pt>
                <c:pt idx="3">
                  <c:v>Q4 Y1</c:v>
                </c:pt>
                <c:pt idx="4">
                  <c:v>Q1 Y2</c:v>
                </c:pt>
                <c:pt idx="5">
                  <c:v>Q2 Y2</c:v>
                </c:pt>
                <c:pt idx="6">
                  <c:v>Q3 Y2</c:v>
                </c:pt>
                <c:pt idx="7">
                  <c:v>Q4 Y2</c:v>
                </c:pt>
                <c:pt idx="8">
                  <c:v>Q1 Y3</c:v>
                </c:pt>
                <c:pt idx="9">
                  <c:v>Q2 Y3</c:v>
                </c:pt>
                <c:pt idx="10">
                  <c:v>Q3 Y3</c:v>
                </c:pt>
                <c:pt idx="11">
                  <c:v>Q4 Y3</c:v>
                </c:pt>
              </c:strCache>
            </c:strRef>
          </c:cat>
          <c:val>
            <c:numRef>
              <c:f>Sheet1!$B$2:$B$13</c:f>
              <c:numCache>
                <c:formatCode>General</c:formatCode>
                <c:ptCount val="12"/>
                <c:pt idx="0">
                  <c:v>125</c:v>
                </c:pt>
                <c:pt idx="1">
                  <c:v>180</c:v>
                </c:pt>
                <c:pt idx="2">
                  <c:v>275</c:v>
                </c:pt>
                <c:pt idx="3">
                  <c:v>420</c:v>
                </c:pt>
                <c:pt idx="4">
                  <c:v>550</c:v>
                </c:pt>
                <c:pt idx="5">
                  <c:v>720</c:v>
                </c:pt>
                <c:pt idx="6">
                  <c:v>950</c:v>
                </c:pt>
                <c:pt idx="7">
                  <c:v>1200</c:v>
                </c:pt>
                <c:pt idx="8">
                  <c:v>1500</c:v>
                </c:pt>
                <c:pt idx="9">
                  <c:v>1850</c:v>
                </c:pt>
                <c:pt idx="10">
                  <c:v>2300</c:v>
                </c:pt>
                <c:pt idx="11">
                  <c:v>2800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crossAx val="2140495176"/>
        <c:crosses val="autoZero"/>
        <c:auto val="1"/>
        <c:lblAlgn val="ctr"/>
        <c:lblOffset val="100"/>
        <c:noMultiLvlLbl val="0"/>
      </c:catAx>
      <c:valAx>
        <c:axId val="2140495176"/>
        <c:scaling/>
        <c:delete val="0"/>
        <c:axPos val="l"/>
        <c:majorGridlines/>
        <c:majorTickMark val="out"/>
        <c:minorTickMark val="none"/>
        <c:tickLblPos val="nextTo"/>
        <c:crossAx val="2118791784"/>
        <c:crosses val="autoZero"/>
      </c:valAx>
    </c:plotArea>
    <c:legend>
      <c:legendPos/>
      <c:layout/>
      <c:overlay val="0"/>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thank you for your time today. FreshBite Foods is positioned to capture a significant share of the growing demand for fresh, locally-sourced food delivered directly to consumers.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traditional food supply chain is broken. Produce travels an average of 1,500 miles before reaching consumers, losing freshness and nutritional value while contributing to massive food waste.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opportunity is substantial. Consumer preferences have shifted dramatically toward local, sustainable food sources, and they're willing to pay for quality and convenience.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three product lines serve different customer needs while maximizing farmer relationships. Fresh Boxes are our core offering, Chef Kits add value through convenience, and Local Market expands our product range.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pricing delivers clear value at each tier. Standard appeals to health-conscious families; Premium targets food enthusiasts who want the complete farm-to-table experience.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multi-channel approach diversifies revenue streams and builds brand awareness across customer segments. Corporate wellness represents a particularly high-margin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projections show revenue growing from $500K in Year 1 to $2.8M by Q4 Year 3. These figures are based on conservative customer acquisition costs and retention rates validated in our pilot market.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big box retailers or generic meal kits, we've built infrastructure specifically for local food distribution. Our tech platform optimizes routes and reduces waste, creating margin advantage.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seeking $2M to scale our proven model to three additional metro markets. Our unit economics are solid, and this capital will accelerate our path to market leadership.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We'd love to show you our operations firsthand and introduce you to the farmers who make FreshBite possible. Contact: invest@freshbite.example.com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0" name="Header Bar"/>
          <p:cNvSpPr/>
          <p:nvPr/>
        </p:nvSpPr>
        <p:spPr>
          <a:xfrm>
            <a:off x="0" y="0"/>
            <a:ext cx="9144000" cy="365760"/>
          </a:xfrm>
          <a:prstGeom prst="rect">
            <a:avLst/>
          </a:prstGeom>
          <a:solidFill>
            <a:srgbClr val="2C5AA0"/>
          </a:solidFill>
          <a:ln>
            <a:noFill/>
          </a:ln>
        </p:spPr>
      </p:sp>
      <p:sp>
        <p:nvSpPr>
          <p:cNvPr id="101" name="Accent Line"/>
          <p:cNvSpPr/>
          <p:nvPr/>
        </p:nvSpPr>
        <p:spPr>
          <a:xfrm>
            <a:off x="457200" y="1371600"/>
            <a:ext cx="8229600" cy="27432"/>
          </a:xfrm>
          <a:prstGeom prst="rect">
            <a:avLst/>
          </a:prstGeom>
          <a:solidFill>
            <a:srgbClr val="28A745"/>
          </a:solidFill>
          <a:ln>
            <a:noFill/>
          </a:ln>
        </p:spPr>
      </p:sp>
      <p:sp>
        <p:nvSpPr>
          <p:cNvPr id="102" name="Footer Bar"/>
          <p:cNvSpPr/>
          <p:nvPr/>
        </p:nvSpPr>
        <p:spPr>
          <a:xfrm>
            <a:off x="0" y="6583680"/>
            <a:ext cx="9144000" cy="274320"/>
          </a:xfrm>
          <a:prstGeom prst="rect">
            <a:avLst/>
          </a:prstGeom>
          <a:solidFill>
            <a:srgbClr val="F8F9FA"/>
          </a:solidFill>
          <a:ln>
            <a:noFill/>
          </a:ln>
        </p:spPr>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FreshBite Foods</a:t>
            </a:r>
          </a:p>
        </p:txBody>
      </p:sp>
      <p:sp>
        <p:nvSpPr>
          <p:cNvPr id="3" name="Subtitle 2"/>
          <p:cNvSpPr>
            <a:spLocks noGrp="1"/>
          </p:cNvSpPr>
          <p:nvPr>
            <p:ph type="subTitle" idx="1"/>
          </p:nvPr>
        </p:nvSpPr>
        <p:spPr/>
        <p:txBody>
          <a:bodyPr/>
          <a:lstStyle/>
          <a:p>
            <a:r>
              <a:t>Revolutionizing Farm-to-Table Delivery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Problem We Solve</a:t>
            </a:r>
          </a:p>
        </p:txBody>
      </p:sp>
      <p:sp>
        <p:nvSpPr>
          <p:cNvPr id="3" name="Content Placeholder 2"/>
          <p:cNvSpPr>
            <a:spLocks noGrp="1"/>
          </p:cNvSpPr>
          <p:nvPr>
            <p:ph idx="1"/>
          </p:nvPr>
        </p:nvSpPr>
        <p:spPr/>
        <p:txBody>
          <a:bodyPr/>
          <a:lstStyle/>
          <a:p>
            <a:r>
              <a:t>40% of produce wasted in supply chain</a:t>
            </a:r>
          </a:p>
          <a:p>
            <a:pPr/>
            <a:r>
              <a:t>Consumers lack fresh local options</a:t>
            </a:r>
          </a:p>
          <a:p>
            <a:pPr/>
            <a:r>
              <a:t>Small farms struggle to reach customers</a:t>
            </a:r>
          </a:p>
          <a:p>
            <a:pPr/>
            <a:r>
              <a:t>Complex logistics deter direct sales</a:t>
            </a:r>
          </a:p>
          <a:p>
            <a:pPr/>
            <a:r>
              <a:t>Quality degrades during transport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Market Opportunity</a:t>
            </a:r>
          </a:p>
        </p:txBody>
      </p:sp>
      <p:sp>
        <p:nvSpPr>
          <p:cNvPr id="3" name="Rounded Rectangle 2"/>
          <p:cNvSpPr/>
          <p:nvPr/>
        </p:nvSpPr>
        <p:spPr>
          <a:xfrm>
            <a:off x="822960" y="1645920"/>
            <a:ext cx="3657600" cy="2011680"/>
          </a:xfrm>
          <a:prstGeom prst="roundRect">
            <a:avLst/>
          </a:prstGeom>
          <a:solidFill>
            <a:srgbClr val="FFF5D9"/>
          </a:solidFill>
          <a:ln w="12700">
            <a:solidFill>
              <a:srgbClr val="D2D3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3474720" cy="1005840"/>
          </a:xfrm>
          <a:prstGeom prst="rect">
            <a:avLst/>
          </a:prstGeom>
          <a:noFill/>
        </p:spPr>
        <p:txBody>
          <a:bodyPr wrap="square">
            <a:spAutoFit/>
          </a:bodyPr>
          <a:lstStyle/>
          <a:p>
            <a:pPr algn="ctr">
              <a:defRPr sz="3600" b="1">
                <a:solidFill>
                  <a:srgbClr val="FFC107"/>
                </a:solidFill>
              </a:defRPr>
            </a:pPr>
            <a:r>
              <a:t>$800B</a:t>
            </a:r>
          </a:p>
        </p:txBody>
      </p:sp>
      <p:sp>
        <p:nvSpPr>
          <p:cNvPr id="5" name="TextBox 4"/>
          <p:cNvSpPr txBox="1"/>
          <p:nvPr/>
        </p:nvSpPr>
        <p:spPr>
          <a:xfrm>
            <a:off x="4023360" y="1783080"/>
            <a:ext cx="365760" cy="365760"/>
          </a:xfrm>
          <a:prstGeom prst="rect">
            <a:avLst/>
          </a:prstGeom>
          <a:noFill/>
        </p:spPr>
        <p:txBody>
          <a:bodyPr wrap="none">
            <a:spAutoFit/>
          </a:bodyPr>
          <a:lstStyle/>
          <a:p>
            <a:pPr algn="ctr">
              <a:defRPr sz="2000">
                <a:solidFill>
                  <a:srgbClr val="28A745"/>
                </a:solidFill>
              </a:defRPr>
            </a:pPr>
            <a:r>
              <a:t>▲</a:t>
            </a:r>
          </a:p>
        </p:txBody>
      </p:sp>
      <p:sp>
        <p:nvSpPr>
          <p:cNvPr id="6" name="TextBox 5"/>
          <p:cNvSpPr txBox="1"/>
          <p:nvPr/>
        </p:nvSpPr>
        <p:spPr>
          <a:xfrm>
            <a:off x="914400" y="2752344"/>
            <a:ext cx="3474720" cy="804672"/>
          </a:xfrm>
          <a:prstGeom prst="rect">
            <a:avLst/>
          </a:prstGeom>
          <a:noFill/>
        </p:spPr>
        <p:txBody>
          <a:bodyPr wrap="square">
            <a:spAutoFit/>
          </a:bodyPr>
          <a:lstStyle/>
          <a:p>
            <a:pPr algn="ctr">
              <a:defRPr sz="1600">
                <a:solidFill>
                  <a:srgbClr val="666666"/>
                </a:solidFill>
              </a:defRPr>
            </a:pPr>
            <a:r>
              <a:t>US Food Market</a:t>
            </a:r>
          </a:p>
        </p:txBody>
      </p:sp>
      <p:sp>
        <p:nvSpPr>
          <p:cNvPr id="7" name="Rounded Rectangle 6"/>
          <p:cNvSpPr/>
          <p:nvPr/>
        </p:nvSpPr>
        <p:spPr>
          <a:xfrm>
            <a:off x="4663440" y="1645920"/>
            <a:ext cx="3657600" cy="2011680"/>
          </a:xfrm>
          <a:prstGeom prst="roundRect">
            <a:avLst/>
          </a:prstGeom>
          <a:solidFill>
            <a:srgbClr val="F8F9FA"/>
          </a:solidFill>
          <a:ln w="12700">
            <a:solidFill>
              <a:srgbClr val="D2D3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0" y="1828800"/>
            <a:ext cx="3474720" cy="1005840"/>
          </a:xfrm>
          <a:prstGeom prst="rect">
            <a:avLst/>
          </a:prstGeom>
          <a:noFill/>
        </p:spPr>
        <p:txBody>
          <a:bodyPr wrap="square">
            <a:spAutoFit/>
          </a:bodyPr>
          <a:lstStyle/>
          <a:p>
            <a:pPr algn="ctr">
              <a:defRPr sz="3600" b="1">
                <a:solidFill>
                  <a:srgbClr val="2C5AA0"/>
                </a:solidFill>
              </a:defRPr>
            </a:pPr>
            <a:r>
              <a:t>35%</a:t>
            </a:r>
          </a:p>
        </p:txBody>
      </p:sp>
      <p:sp>
        <p:nvSpPr>
          <p:cNvPr id="9" name="TextBox 8"/>
          <p:cNvSpPr txBox="1"/>
          <p:nvPr/>
        </p:nvSpPr>
        <p:spPr>
          <a:xfrm>
            <a:off x="7863840" y="1783080"/>
            <a:ext cx="365760" cy="365760"/>
          </a:xfrm>
          <a:prstGeom prst="rect">
            <a:avLst/>
          </a:prstGeom>
          <a:noFill/>
        </p:spPr>
        <p:txBody>
          <a:bodyPr wrap="none">
            <a:spAutoFit/>
          </a:bodyPr>
          <a:lstStyle/>
          <a:p>
            <a:pPr algn="ctr">
              <a:defRPr sz="2000">
                <a:solidFill>
                  <a:srgbClr val="28A745"/>
                </a:solidFill>
              </a:defRPr>
            </a:pPr>
            <a:r>
              <a:t>▲</a:t>
            </a:r>
          </a:p>
        </p:txBody>
      </p:sp>
      <p:sp>
        <p:nvSpPr>
          <p:cNvPr id="10" name="TextBox 9"/>
          <p:cNvSpPr txBox="1"/>
          <p:nvPr/>
        </p:nvSpPr>
        <p:spPr>
          <a:xfrm>
            <a:off x="4754880" y="2752344"/>
            <a:ext cx="3474720" cy="804672"/>
          </a:xfrm>
          <a:prstGeom prst="rect">
            <a:avLst/>
          </a:prstGeom>
          <a:noFill/>
        </p:spPr>
        <p:txBody>
          <a:bodyPr wrap="square">
            <a:spAutoFit/>
          </a:bodyPr>
          <a:lstStyle/>
          <a:p>
            <a:pPr algn="ctr">
              <a:defRPr sz="1600">
                <a:solidFill>
                  <a:srgbClr val="666666"/>
                </a:solidFill>
              </a:defRPr>
            </a:pPr>
            <a:r>
              <a:t>YoY Online Growth</a:t>
            </a:r>
          </a:p>
        </p:txBody>
      </p:sp>
      <p:sp>
        <p:nvSpPr>
          <p:cNvPr id="11" name="Rounded Rectangle 10"/>
          <p:cNvSpPr/>
          <p:nvPr/>
        </p:nvSpPr>
        <p:spPr>
          <a:xfrm>
            <a:off x="822960" y="3840480"/>
            <a:ext cx="3657600" cy="2011680"/>
          </a:xfrm>
          <a:prstGeom prst="roundRect">
            <a:avLst/>
          </a:prstGeom>
          <a:solidFill>
            <a:srgbClr val="F8F9FA"/>
          </a:solidFill>
          <a:ln w="12700">
            <a:solidFill>
              <a:srgbClr val="D2D3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023360"/>
            <a:ext cx="3474720" cy="1005840"/>
          </a:xfrm>
          <a:prstGeom prst="rect">
            <a:avLst/>
          </a:prstGeom>
          <a:noFill/>
        </p:spPr>
        <p:txBody>
          <a:bodyPr wrap="square">
            <a:spAutoFit/>
          </a:bodyPr>
          <a:lstStyle/>
          <a:p>
            <a:pPr algn="ctr">
              <a:defRPr sz="3600" b="1">
                <a:solidFill>
                  <a:srgbClr val="2C5AA0"/>
                </a:solidFill>
              </a:defRPr>
            </a:pPr>
            <a:r>
              <a:t>60%</a:t>
            </a:r>
          </a:p>
        </p:txBody>
      </p:sp>
      <p:sp>
        <p:nvSpPr>
          <p:cNvPr id="13" name="TextBox 12"/>
          <p:cNvSpPr txBox="1"/>
          <p:nvPr/>
        </p:nvSpPr>
        <p:spPr>
          <a:xfrm>
            <a:off x="4023360" y="3977640"/>
            <a:ext cx="365760" cy="365760"/>
          </a:xfrm>
          <a:prstGeom prst="rect">
            <a:avLst/>
          </a:prstGeom>
          <a:noFill/>
        </p:spPr>
        <p:txBody>
          <a:bodyPr wrap="none">
            <a:spAutoFit/>
          </a:bodyPr>
          <a:lstStyle/>
          <a:p>
            <a:pPr algn="ctr">
              <a:defRPr sz="2000">
                <a:solidFill>
                  <a:srgbClr val="28A745"/>
                </a:solidFill>
              </a:defRPr>
            </a:pPr>
            <a:r>
              <a:t>▲</a:t>
            </a:r>
          </a:p>
        </p:txBody>
      </p:sp>
      <p:sp>
        <p:nvSpPr>
          <p:cNvPr id="14" name="TextBox 13"/>
          <p:cNvSpPr txBox="1"/>
          <p:nvPr/>
        </p:nvSpPr>
        <p:spPr>
          <a:xfrm>
            <a:off x="914400" y="4946904"/>
            <a:ext cx="3474720" cy="804672"/>
          </a:xfrm>
          <a:prstGeom prst="rect">
            <a:avLst/>
          </a:prstGeom>
          <a:noFill/>
        </p:spPr>
        <p:txBody>
          <a:bodyPr wrap="square">
            <a:spAutoFit/>
          </a:bodyPr>
          <a:lstStyle/>
          <a:p>
            <a:pPr algn="ctr">
              <a:defRPr sz="1600">
                <a:solidFill>
                  <a:srgbClr val="666666"/>
                </a:solidFill>
              </a:defRPr>
            </a:pPr>
            <a:r>
              <a:t>Want Local Food</a:t>
            </a:r>
          </a:p>
        </p:txBody>
      </p:sp>
      <p:sp>
        <p:nvSpPr>
          <p:cNvPr id="15" name="Rounded Rectangle 14"/>
          <p:cNvSpPr/>
          <p:nvPr/>
        </p:nvSpPr>
        <p:spPr>
          <a:xfrm>
            <a:off x="4663440" y="3840480"/>
            <a:ext cx="3657600" cy="2011680"/>
          </a:xfrm>
          <a:prstGeom prst="roundRect">
            <a:avLst/>
          </a:prstGeom>
          <a:solidFill>
            <a:srgbClr val="F8F9FA"/>
          </a:solidFill>
          <a:ln w="12700">
            <a:solidFill>
              <a:srgbClr val="D2D3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4023360"/>
            <a:ext cx="3474720" cy="1005840"/>
          </a:xfrm>
          <a:prstGeom prst="rect">
            <a:avLst/>
          </a:prstGeom>
          <a:noFill/>
        </p:spPr>
        <p:txBody>
          <a:bodyPr wrap="square">
            <a:spAutoFit/>
          </a:bodyPr>
          <a:lstStyle/>
          <a:p>
            <a:pPr algn="ctr">
              <a:defRPr sz="3600" b="1">
                <a:solidFill>
                  <a:srgbClr val="2C5AA0"/>
                </a:solidFill>
              </a:defRPr>
            </a:pPr>
            <a:r>
              <a:t>42%</a:t>
            </a:r>
          </a:p>
        </p:txBody>
      </p:sp>
      <p:sp>
        <p:nvSpPr>
          <p:cNvPr id="17" name="TextBox 16"/>
          <p:cNvSpPr txBox="1"/>
          <p:nvPr/>
        </p:nvSpPr>
        <p:spPr>
          <a:xfrm>
            <a:off x="7863840" y="3977640"/>
            <a:ext cx="365760" cy="365760"/>
          </a:xfrm>
          <a:prstGeom prst="rect">
            <a:avLst/>
          </a:prstGeom>
          <a:noFill/>
        </p:spPr>
        <p:txBody>
          <a:bodyPr wrap="none">
            <a:spAutoFit/>
          </a:bodyPr>
          <a:lstStyle/>
          <a:p>
            <a:pPr algn="ctr">
              <a:defRPr sz="2000">
                <a:solidFill>
                  <a:srgbClr val="28A745"/>
                </a:solidFill>
              </a:defRPr>
            </a:pPr>
            <a:r>
              <a:t>▲</a:t>
            </a:r>
          </a:p>
        </p:txBody>
      </p:sp>
      <p:sp>
        <p:nvSpPr>
          <p:cNvPr id="18" name="TextBox 17"/>
          <p:cNvSpPr txBox="1"/>
          <p:nvPr/>
        </p:nvSpPr>
        <p:spPr>
          <a:xfrm>
            <a:off x="4754880" y="4946904"/>
            <a:ext cx="3474720" cy="804672"/>
          </a:xfrm>
          <a:prstGeom prst="rect">
            <a:avLst/>
          </a:prstGeom>
          <a:noFill/>
        </p:spPr>
        <p:txBody>
          <a:bodyPr wrap="square">
            <a:spAutoFit/>
          </a:bodyPr>
          <a:lstStyle/>
          <a:p>
            <a:pPr algn="ctr">
              <a:defRPr sz="1600">
                <a:solidFill>
                  <a:srgbClr val="666666"/>
                </a:solidFill>
              </a:defRPr>
            </a:pPr>
            <a:r>
              <a:t>Will Pay Premium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Products</a:t>
            </a:r>
          </a:p>
        </p:txBody>
      </p:sp>
      <p:sp>
        <p:nvSpPr>
          <p:cNvPr id="3" name="Rounded Rectangle 2"/>
          <p:cNvSpPr/>
          <p:nvPr/>
        </p:nvSpPr>
        <p:spPr>
          <a:xfrm>
            <a:off x="1508760" y="1645920"/>
            <a:ext cx="2926080" cy="2286000"/>
          </a:xfrm>
          <a:prstGeom prst="roundRect">
            <a:avLst/>
          </a:prstGeom>
          <a:solidFill>
            <a:srgbClr val="2C5AA0"/>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91639" y="1828800"/>
            <a:ext cx="2560320" cy="457200"/>
          </a:xfrm>
          <a:prstGeom prst="rect">
            <a:avLst/>
          </a:prstGeom>
          <a:noFill/>
        </p:spPr>
        <p:txBody>
          <a:bodyPr wrap="none">
            <a:spAutoFit/>
          </a:bodyPr>
          <a:lstStyle/>
          <a:p>
            <a:pPr algn="l">
              <a:defRPr sz="1800" b="1">
                <a:solidFill>
                  <a:srgbClr val="FFFFFF"/>
                </a:solidFill>
              </a:defRPr>
            </a:pPr>
            <a:r>
              <a:t>Fresh Boxes</a:t>
            </a:r>
          </a:p>
        </p:txBody>
      </p:sp>
      <p:sp>
        <p:nvSpPr>
          <p:cNvPr id="5" name="TextBox 4"/>
          <p:cNvSpPr txBox="1"/>
          <p:nvPr/>
        </p:nvSpPr>
        <p:spPr>
          <a:xfrm>
            <a:off x="1691639" y="2377440"/>
            <a:ext cx="2560320" cy="1371600"/>
          </a:xfrm>
          <a:prstGeom prst="rect">
            <a:avLst/>
          </a:prstGeom>
          <a:noFill/>
        </p:spPr>
        <p:txBody>
          <a:bodyPr wrap="square">
            <a:spAutoFit/>
          </a:bodyPr>
          <a:lstStyle/>
          <a:p>
            <a:pPr>
              <a:defRPr sz="1600">
                <a:solidFill>
                  <a:srgbClr val="FFFFFF"/>
                </a:solidFill>
              </a:defRPr>
            </a:pPr>
            <a:r>
              <a:t>• Weekly produce delivery</a:t>
            </a:r>
          </a:p>
          <a:p>
            <a:pPr>
              <a:defRPr sz="1600">
                <a:solidFill>
                  <a:srgbClr val="FFFFFF"/>
                </a:solidFill>
              </a:defRPr>
            </a:pPr>
            <a:r>
              <a:t>• Seasonal variety</a:t>
            </a:r>
          </a:p>
          <a:p>
            <a:pPr>
              <a:defRPr sz="1600">
                <a:solidFill>
                  <a:srgbClr val="FFFFFF"/>
                </a:solidFill>
              </a:defRPr>
            </a:pPr>
            <a:r>
              <a:t>• Customizable contents</a:t>
            </a:r>
          </a:p>
        </p:txBody>
      </p:sp>
      <p:sp>
        <p:nvSpPr>
          <p:cNvPr id="6" name="Rounded Rectangle 5"/>
          <p:cNvSpPr/>
          <p:nvPr/>
        </p:nvSpPr>
        <p:spPr>
          <a:xfrm>
            <a:off x="4709160" y="1645920"/>
            <a:ext cx="2926080" cy="2286000"/>
          </a:xfrm>
          <a:prstGeom prst="roundRect">
            <a:avLst/>
          </a:prstGeom>
          <a:solidFill>
            <a:srgbClr val="28A745"/>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92040" y="1828800"/>
            <a:ext cx="2560320" cy="457200"/>
          </a:xfrm>
          <a:prstGeom prst="rect">
            <a:avLst/>
          </a:prstGeom>
          <a:noFill/>
        </p:spPr>
        <p:txBody>
          <a:bodyPr wrap="none">
            <a:spAutoFit/>
          </a:bodyPr>
          <a:lstStyle/>
          <a:p>
            <a:pPr algn="l">
              <a:defRPr sz="1800" b="1">
                <a:solidFill>
                  <a:srgbClr val="FFFFFF"/>
                </a:solidFill>
              </a:defRPr>
            </a:pPr>
            <a:r>
              <a:t>Chef Kits</a:t>
            </a:r>
          </a:p>
        </p:txBody>
      </p:sp>
      <p:sp>
        <p:nvSpPr>
          <p:cNvPr id="8" name="TextBox 7"/>
          <p:cNvSpPr txBox="1"/>
          <p:nvPr/>
        </p:nvSpPr>
        <p:spPr>
          <a:xfrm>
            <a:off x="4892040" y="2377440"/>
            <a:ext cx="2560320" cy="1371600"/>
          </a:xfrm>
          <a:prstGeom prst="rect">
            <a:avLst/>
          </a:prstGeom>
          <a:noFill/>
        </p:spPr>
        <p:txBody>
          <a:bodyPr wrap="square">
            <a:spAutoFit/>
          </a:bodyPr>
          <a:lstStyle/>
          <a:p>
            <a:pPr>
              <a:defRPr sz="1600">
                <a:solidFill>
                  <a:srgbClr val="FFFFFF"/>
                </a:solidFill>
              </a:defRPr>
            </a:pPr>
            <a:r>
              <a:t>• Recipe-ready ingredients</a:t>
            </a:r>
          </a:p>
          <a:p>
            <a:pPr>
              <a:defRPr sz="1600">
                <a:solidFill>
                  <a:srgbClr val="FFFFFF"/>
                </a:solidFill>
              </a:defRPr>
            </a:pPr>
            <a:r>
              <a:t>• Farm-sourced proteins</a:t>
            </a:r>
          </a:p>
          <a:p>
            <a:pPr>
              <a:defRPr sz="1600">
                <a:solidFill>
                  <a:srgbClr val="FFFFFF"/>
                </a:solidFill>
              </a:defRPr>
            </a:pPr>
            <a:r>
              <a:t>• Step-by-step guides</a:t>
            </a:r>
          </a:p>
        </p:txBody>
      </p:sp>
      <p:sp>
        <p:nvSpPr>
          <p:cNvPr id="9" name="Rounded Rectangle 8"/>
          <p:cNvSpPr/>
          <p:nvPr/>
        </p:nvSpPr>
        <p:spPr>
          <a:xfrm>
            <a:off x="1508760" y="4206240"/>
            <a:ext cx="2926080" cy="2286000"/>
          </a:xfrm>
          <a:prstGeom prst="roundRect">
            <a:avLst/>
          </a:prstGeom>
          <a:solidFill>
            <a:srgbClr val="FFC107"/>
          </a:solidFill>
          <a:ln w="12700">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91639" y="4389120"/>
            <a:ext cx="2560320" cy="457200"/>
          </a:xfrm>
          <a:prstGeom prst="rect">
            <a:avLst/>
          </a:prstGeom>
          <a:noFill/>
        </p:spPr>
        <p:txBody>
          <a:bodyPr wrap="none">
            <a:spAutoFit/>
          </a:bodyPr>
          <a:lstStyle/>
          <a:p>
            <a:pPr algn="l">
              <a:defRPr sz="1800" b="1">
                <a:solidFill>
                  <a:srgbClr val="FFFFFF"/>
                </a:solidFill>
              </a:defRPr>
            </a:pPr>
            <a:r>
              <a:t>Local Market</a:t>
            </a:r>
          </a:p>
        </p:txBody>
      </p:sp>
      <p:sp>
        <p:nvSpPr>
          <p:cNvPr id="11" name="TextBox 10"/>
          <p:cNvSpPr txBox="1"/>
          <p:nvPr/>
        </p:nvSpPr>
        <p:spPr>
          <a:xfrm>
            <a:off x="1691639" y="4937759"/>
            <a:ext cx="2560320" cy="1371600"/>
          </a:xfrm>
          <a:prstGeom prst="rect">
            <a:avLst/>
          </a:prstGeom>
          <a:noFill/>
        </p:spPr>
        <p:txBody>
          <a:bodyPr wrap="square">
            <a:spAutoFit/>
          </a:bodyPr>
          <a:lstStyle/>
          <a:p>
            <a:pPr>
              <a:defRPr sz="1600">
                <a:solidFill>
                  <a:srgbClr val="FFFFFF"/>
                </a:solidFill>
              </a:defRPr>
            </a:pPr>
            <a:r>
              <a:t>• Artisan products</a:t>
            </a:r>
          </a:p>
          <a:p>
            <a:pPr>
              <a:defRPr sz="1600">
                <a:solidFill>
                  <a:srgbClr val="FFFFFF"/>
                </a:solidFill>
              </a:defRPr>
            </a:pPr>
            <a:r>
              <a:t>• Specialty items</a:t>
            </a:r>
          </a:p>
          <a:p>
            <a:pPr>
              <a:defRPr sz="1600">
                <a:solidFill>
                  <a:srgbClr val="FFFFFF"/>
                </a:solidFill>
              </a:defRPr>
            </a:pPr>
            <a:r>
              <a:t>• Supporting small producers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Pricing Strategy</a:t>
            </a:r>
          </a:p>
        </p:txBody>
      </p:sp>
      <p:sp>
        <p:nvSpPr>
          <p:cNvPr id="3" name="Text Placeholder 2"/>
          <p:cNvSpPr>
            <a:spLocks noGrp="1"/>
          </p:cNvSpPr>
          <p:nvPr>
            <p:ph type="body" idx="1"/>
          </p:nvPr>
        </p:nvSpPr>
        <p:spPr/>
        <p:txBody>
          <a:bodyPr/>
          <a:lstStyle/>
          <a:p>
            <a:r>
              <a:t>Standard Plan - $99/mo</a:t>
            </a:r>
          </a:p>
        </p:txBody>
      </p:sp>
      <p:sp>
        <p:nvSpPr>
          <p:cNvPr id="4" name="Content Placeholder 3"/>
          <p:cNvSpPr>
            <a:spLocks noGrp="1"/>
          </p:cNvSpPr>
          <p:nvPr>
            <p:ph idx="2" sz="half"/>
          </p:nvPr>
        </p:nvSpPr>
        <p:spPr/>
        <p:txBody>
          <a:bodyPr/>
          <a:lstStyle/>
          <a:p>
            <a:r>
              <a:t>Weekly produce box</a:t>
            </a:r>
          </a:p>
          <a:p>
            <a:pPr/>
            <a:r>
              <a:t>10-12 seasonal items</a:t>
            </a:r>
          </a:p>
          <a:p>
            <a:pPr/>
            <a:r>
              <a:t>Free delivery</a:t>
            </a:r>
          </a:p>
          <a:p>
            <a:pPr/>
            <a:r>
              <a:t>Flexible scheduling</a:t>
            </a:r>
          </a:p>
        </p:txBody>
      </p:sp>
      <p:sp>
        <p:nvSpPr>
          <p:cNvPr id="5" name="Text Placeholder 4"/>
          <p:cNvSpPr>
            <a:spLocks noGrp="1"/>
          </p:cNvSpPr>
          <p:nvPr>
            <p:ph type="body" idx="3" sz="quarter"/>
          </p:nvPr>
        </p:nvSpPr>
        <p:spPr/>
        <p:txBody>
          <a:bodyPr/>
          <a:lstStyle/>
          <a:p>
            <a:r>
              <a:t>Premium Plan - $199/mo</a:t>
            </a:r>
          </a:p>
        </p:txBody>
      </p:sp>
      <p:sp>
        <p:nvSpPr>
          <p:cNvPr id="6" name="Content Placeholder 5"/>
          <p:cNvSpPr>
            <a:spLocks noGrp="1"/>
          </p:cNvSpPr>
          <p:nvPr>
            <p:ph idx="4" sz="quarter"/>
          </p:nvPr>
        </p:nvSpPr>
        <p:spPr/>
        <p:txBody>
          <a:bodyPr/>
          <a:lstStyle/>
          <a:p>
            <a:r>
              <a:t>Produce plus proteins</a:t>
            </a:r>
          </a:p>
          <a:p>
            <a:pPr/>
            <a:r>
              <a:t>2 Chef Kits included</a:t>
            </a:r>
          </a:p>
          <a:p>
            <a:pPr/>
            <a:r>
              <a:t>Priority delivery slots</a:t>
            </a:r>
          </a:p>
          <a:p>
            <a:pPr/>
            <a:r>
              <a:t>Exclusive artisan items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Sales Approach</a:t>
            </a:r>
          </a:p>
        </p:txBody>
      </p:sp>
      <p:sp>
        <p:nvSpPr>
          <p:cNvPr id="3" name="Content Placeholder 2"/>
          <p:cNvSpPr>
            <a:spLocks noGrp="1"/>
          </p:cNvSpPr>
          <p:nvPr>
            <p:ph idx="1"/>
          </p:nvPr>
        </p:nvSpPr>
        <p:spPr/>
        <p:txBody>
          <a:bodyPr/>
          <a:lstStyle/>
          <a:p>
            <a:r>
              <a:t>D2C online subscription platform</a:t>
            </a:r>
          </a:p>
          <a:p>
            <a:pPr/>
            <a:r>
              <a:t>B2B corporate wellness programs</a:t>
            </a:r>
          </a:p>
          <a:p>
            <a:pPr/>
            <a:r>
              <a:t>Strategic retail partnerships</a:t>
            </a:r>
          </a:p>
          <a:p>
            <a:pPr/>
            <a:r>
              <a:t>Community pop-up events</a:t>
            </a:r>
          </a:p>
          <a:p>
            <a:pPr/>
            <a:r>
              <a:t>Referral incentive program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Revenue Projections</a:t>
            </a:r>
          </a:p>
        </p:txBody>
      </p:sp>
      <p:graphicFrame>
        <p:nvGraphicFramePr>
          <p:cNvPr id="3" name="Chart 2"/>
          <p:cNvGraphicFramePr>
            <a:graphicFrameLocks noGrp="1"/>
          </p:cNvGraphicFramePr>
          <p:nvPr/>
        </p:nvGraphicFramePr>
        <p:xfrm>
          <a:off x="457200" y="164592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Competitive Advantage</a:t>
            </a:r>
          </a:p>
        </p:txBody>
      </p:sp>
      <p:sp>
        <p:nvSpPr>
          <p:cNvPr id="3" name="Content Placeholder 2"/>
          <p:cNvSpPr>
            <a:spLocks noGrp="1"/>
          </p:cNvSpPr>
          <p:nvPr>
            <p:ph idx="1" sz="half"/>
          </p:nvPr>
        </p:nvSpPr>
        <p:spPr/>
        <p:txBody>
          <a:bodyPr/>
          <a:lstStyle/>
          <a:p>
            <a:r>
              <a:t>Direct farmer relationships</a:t>
            </a:r>
          </a:p>
          <a:p>
            <a:pPr/>
            <a:r>
              <a:t>Proprietary logistics platform</a:t>
            </a:r>
          </a:p>
          <a:p>
            <a:pPr/>
            <a:r>
              <a:t>Sustainability commitment</a:t>
            </a:r>
          </a:p>
          <a:p>
            <a:pPr/>
            <a:r>
              <a:t>Community-first brand</a:t>
            </a:r>
          </a:p>
        </p:txBody>
      </p:sp>
      <p:sp>
        <p:nvSpPr>
          <p:cNvPr id="4" name="Content Placeholder 3"/>
          <p:cNvSpPr>
            <a:spLocks noGrp="1"/>
          </p:cNvSpPr>
          <p:nvPr>
            <p:ph idx="2" sz="half"/>
          </p:nvPr>
        </p:nvSpPr>
        <p:spPr/>
        <p:txBody>
          <a:bodyPr/>
          <a:lstStyle/>
          <a:p>
            <a:r>
              <a:t>48-hour farm-to-door</a:t>
            </a:r>
          </a:p>
          <a:p>
            <a:pPr/>
            <a:r>
              <a:t>Lower food waste costs</a:t>
            </a:r>
          </a:p>
          <a:p>
            <a:pPr/>
            <a:r>
              <a:t>Higher farmer payouts</a:t>
            </a:r>
          </a:p>
          <a:p>
            <a:pPr/>
            <a:r>
              <a:t>Customer loyalty premium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Ask</a:t>
            </a:r>
          </a:p>
        </p:txBody>
      </p:sp>
      <p:sp>
        <p:nvSpPr>
          <p:cNvPr id="3" name="Content Placeholder 2"/>
          <p:cNvSpPr>
            <a:spLocks noGrp="1"/>
          </p:cNvSpPr>
          <p:nvPr>
            <p:ph idx="1"/>
          </p:nvPr>
        </p:nvSpPr>
        <p:spPr/>
        <p:txBody>
          <a:bodyPr/>
          <a:lstStyle/>
          <a:p>
            <a:r>
              <a:t>$2M seed round</a:t>
            </a:r>
          </a:p>
          <a:p>
            <a:pPr/>
            <a:r>
              <a:t>18-month runway</a:t>
            </a:r>
          </a:p>
          <a:p>
            <a:pPr/>
            <a:r>
              <a:t>Expand to 3 metro markets</a:t>
            </a:r>
          </a:p>
          <a:p>
            <a:pPr/>
            <a:r>
              <a:t>Target: 50K subscribers</a:t>
            </a:r>
          </a:p>
          <a:p>
            <a:pPr/>
            <a:r>
              <a:t>Path to profitability Y3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p:txBody>
          <a:bodyPr/>
          <a:lstStyle/>
          <a:p>
            <a:r>
              <a:t>Schedule follow-up meeting</a:t>
            </a:r>
          </a:p>
          <a:p>
            <a:pPr/>
            <a:r>
              <a:t>Review due diligence docs</a:t>
            </a:r>
          </a:p>
          <a:p>
            <a:pPr/>
            <a:r>
              <a:t>Visit our distribution center</a:t>
            </a:r>
          </a:p>
          <a:p>
            <a:pPr/>
            <a:r>
              <a:t>Meet our farmer partners</a:t>
            </a:r>
          </a:p>
        </p:txBody>
      </p:sp>
    </p:spTree>
  </p:cSld>
  <p:clrMapOvr>
    <a:masterClrMapping/>
  </p:clrMapOvr>
</p:sld>
</file>

<file path=ppt/theme/theme1.xml><?xml version="1.0" encoding="utf-8"?>
<a:theme xmlns:a="http://schemas.openxmlformats.org/drawingml/2006/main" name="Office Theme">
  <a:themeElements>
    <a:clrScheme name="Corporate Professional">
      <a:dk1>
        <a:srgbClr val="333333"/>
      </a:dk1>
      <a:lt1>
        <a:srgbClr val="FFFFFF"/>
      </a:lt1>
      <a:dk2>
        <a:srgbClr val="666666"/>
      </a:dk2>
      <a:lt2>
        <a:srgbClr val="F8F9FA"/>
      </a:lt2>
      <a:accent1>
        <a:srgbClr val="2C5AA0"/>
      </a:accent1>
      <a:accent2>
        <a:srgbClr val="4A4A4A"/>
      </a:accent2>
      <a:accent3>
        <a:srgbClr val="28A745"/>
      </a:accent3>
      <a:accent4>
        <a:srgbClr val="4A4A4A"/>
      </a:accent4>
      <a:accent5>
        <a:srgbClr val="28A745"/>
      </a:accent5>
      <a:accent6>
        <a:srgbClr val="2C5AA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FreshBite Foods</dc:title>
  <dc:subject>Business pitch deck for farm-to-table food delivery startup</dc:subject>
  <dc:creator>Slideforge Examples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