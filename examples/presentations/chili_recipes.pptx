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our exploration of chili, one of the most beloved comfort foods. Whether you're a traditionalist or an innovator, there's a perfect chili recipe waiting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Chili has evolved differently in various regions. Texas purists insist on no beans, while Cincinnati serves it Greek-influenced over pasta. Chile verde showcases the amazing flavor of roasted green chiles.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Quality ingredients make the difference between good chili and great chili. Use whole spices when possible and toast them lightly before grinding for maximum flavor.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limit yourself to ground meat. Cubed chuck or brisket creates fork-tender pieces that hold up beautifully during long simmering. Mix meats for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debate has passionate advocates on both sides. The truth? Both versions are delicious. Make what you enjoy, and don't let anyone tell you it's not real chili.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Rushing chili produces flat, one-dimensional flavor. Each step, from browning meat to blooming spices, adds another layer of complexity that develops during the long simmer.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crowd the pan when browning, or you'll steam instead of sear. Toast your spices in the rendered fat until fragrant. Patience during simmering develops flavors that can't be rushed.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tricks come from years of competition cooking. The chocolate adds a subtle richness without sweetness. Stout or porter beers work especially well with beef chili.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a topping bar and let everyone customize. Some like it loaded, some prefer it pure. Fresh lime wedges and sliced jalapeños are excellent additions.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Chili is forgiving and personal. Your perfect bowl might be different from anyone else's, and that's the beauty of it. Start cooking, keep experimenting, and enjoy the journey!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 Bar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101" name="Bottom Bar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04E89"/>
          </a:solidFill>
          <a:ln>
            <a:noFill/>
          </a:ln>
        </p:spPr>
      </p:sp>
      <p:sp>
        <p:nvSpPr>
          <p:cNvPr id="102" name="Corner Accent"/>
          <p:cNvSpPr/>
          <p:nvPr/>
        </p:nvSpPr>
        <p:spPr>
          <a:xfrm>
            <a:off x="8229600" y="5943600"/>
            <a:ext cx="914400" cy="914400"/>
          </a:xfrm>
          <a:prstGeom prst="rect">
            <a:avLst/>
          </a:prstGeom>
          <a:solidFill>
            <a:srgbClr val="F9C80E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Art of Chili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Classic to Creative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Chili Styles Around the World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08760" y="1645920"/>
            <a:ext cx="2926080" cy="2286000"/>
          </a:xfrm>
          <a:prstGeom prst="roundRect">
            <a:avLst/>
          </a:prstGeom>
          <a:solidFill>
            <a:srgbClr val="2C5AA0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91639" y="18288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Texas 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39" y="237744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No beans, all beef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Dried chiles, not powder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Rich and meaty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645920"/>
            <a:ext cx="2926080" cy="2286000"/>
          </a:xfrm>
          <a:prstGeom prst="roundRect">
            <a:avLst/>
          </a:prstGeom>
          <a:solidFill>
            <a:srgbClr val="28A745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40" y="18288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Cincinnati 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237744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Served over spaghetti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Cinnamon and chocolate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Unique 3-5 way options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4206240"/>
            <a:ext cx="2926080" cy="2286000"/>
          </a:xfrm>
          <a:prstGeom prst="roundRect">
            <a:avLst/>
          </a:prstGeom>
          <a:solidFill>
            <a:srgbClr val="FFC107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39" y="43891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Chile Verde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39" y="4937759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Pork based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Tomatillos and green chiles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Bright, tangy flavor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Essential Ingredients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Meat: beef, pork, turkey</a:t>
            </a:r>
          </a:p>
          <a:p>
            <a:pPr/>
            <a:r>
              <a:t>Tomatoes: crushed or diced</a:t>
            </a:r>
          </a:p>
          <a:p>
            <a:pPr/>
            <a:r>
              <a:t>Beans: kidney, black, pinto</a:t>
            </a:r>
          </a:p>
          <a:p>
            <a:pPr/>
            <a:r>
              <a:t>Stock: beef or chicken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Chili powder: anchor flavor</a:t>
            </a:r>
          </a:p>
          <a:p>
            <a:pPr/>
            <a:r>
              <a:t>Cumin: earthy warmth</a:t>
            </a:r>
          </a:p>
          <a:p>
            <a:pPr/>
            <a:r>
              <a:t>Paprika: color and depth</a:t>
            </a:r>
          </a:p>
          <a:p>
            <a:pPr/>
            <a:r>
              <a:t>Oregano: herbaceous note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Meat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Ground beef: quick cooking</a:t>
            </a:r>
          </a:p>
          <a:p>
            <a:pPr/>
            <a:r>
              <a:t>Chuck roast: rich, tender</a:t>
            </a:r>
          </a:p>
          <a:p>
            <a:pPr/>
            <a:r>
              <a:t>Brisket: ultimate texture</a:t>
            </a:r>
          </a:p>
          <a:p>
            <a:pPr/>
            <a:r>
              <a:t>Turkey: lean alternative</a:t>
            </a:r>
          </a:p>
          <a:p>
            <a:pPr/>
            <a:r>
              <a:t>Chorizo: extra spice kick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Beans: Yes or No?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With Beans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Added fiber and protein</a:t>
            </a:r>
          </a:p>
          <a:p>
            <a:pPr/>
            <a:r>
              <a:t>More economical</a:t>
            </a:r>
          </a:p>
          <a:p>
            <a:pPr/>
            <a:r>
              <a:t>Heartier texture</a:t>
            </a:r>
          </a:p>
          <a:p>
            <a:pPr/>
            <a:r>
              <a:t>Traditional in many regions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Beans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Texas competition standard</a:t>
            </a:r>
          </a:p>
          <a:p>
            <a:pPr/>
            <a:r>
              <a:t>Pure meat experience</a:t>
            </a:r>
          </a:p>
          <a:p>
            <a:pPr/>
            <a:r>
              <a:t>Richer beef flavor</a:t>
            </a:r>
          </a:p>
          <a:p>
            <a:pPr/>
            <a:r>
              <a:t>Authentic chili con carne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i="1"/>
            </a:pPr>
            <a:r>
              <a:t>"Great chili is about layers of flavor built slowly, not just heat."</a:t>
            </a:r>
          </a:p>
          <a:p>
            <a:pPr algn="ctr">
              <a:defRPr sz="1800"/>
            </a:pPr>
            <a:r>
              <a:t>— Chili Masters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Cooking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Brown meat in batches</a:t>
            </a:r>
          </a:p>
          <a:p>
            <a:pPr/>
            <a:r>
              <a:t>Bloom spices in fat</a:t>
            </a:r>
          </a:p>
          <a:p>
            <a:pPr/>
            <a:r>
              <a:t>Deglaze pan thoroughly</a:t>
            </a:r>
          </a:p>
          <a:p>
            <a:pPr/>
            <a:r>
              <a:t>Simmer low for 2+ hours</a:t>
            </a:r>
          </a:p>
          <a:p>
            <a:pPr/>
            <a:r>
              <a:t>Rest before serving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 Tips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8229600" cy="914400"/>
          </a:xfrm>
          <a:prstGeom prst="roundRect">
            <a:avLst/>
          </a:prstGeom>
          <a:solidFill>
            <a:srgbClr val="FFF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 bIns="137160"/>
          <a:lstStyle/>
          <a:p>
            <a:pPr algn="l">
              <a:defRPr sz="1600" b="1">
                <a:solidFill>
                  <a:srgbClr val="997304"/>
                </a:solidFill>
              </a:defRPr>
            </a:pPr>
            <a:r>
              <a:t>Secret Ingredient</a:t>
            </a:r>
          </a:p>
          <a:p>
            <a:pPr algn="l">
              <a:spcBef>
                <a:spcPts val="600"/>
              </a:spcBef>
              <a:defRPr sz="1200">
                <a:solidFill>
                  <a:srgbClr val="997304"/>
                </a:solidFill>
              </a:defRPr>
            </a:pPr>
            <a:r>
              <a:t>Add a square of dark chocolate in the last 30 minutes for incredible depth.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697480"/>
            <a:ext cx="8229600" cy="914400"/>
          </a:xfrm>
          <a:prstGeom prst="roundRect">
            <a:avLst/>
          </a:prstGeom>
          <a:solidFill>
            <a:srgbClr val="FFF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 bIns="137160"/>
          <a:lstStyle/>
          <a:p>
            <a:pPr algn="l">
              <a:defRPr sz="1600" b="1">
                <a:solidFill>
                  <a:srgbClr val="997304"/>
                </a:solidFill>
              </a:defRPr>
            </a:pPr>
            <a:r>
              <a:t>Liquid Upgrade</a:t>
            </a:r>
          </a:p>
          <a:p>
            <a:pPr algn="l">
              <a:spcBef>
                <a:spcPts val="600"/>
              </a:spcBef>
              <a:defRPr sz="1200">
                <a:solidFill>
                  <a:srgbClr val="997304"/>
                </a:solidFill>
              </a:defRPr>
            </a:pPr>
            <a:r>
              <a:t>Replace half the stock with dark beer for added complexity.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49039"/>
            <a:ext cx="8229600" cy="914400"/>
          </a:xfrm>
          <a:prstGeom prst="roundRect">
            <a:avLst/>
          </a:prstGeom>
          <a:solidFill>
            <a:srgbClr val="FFF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 bIns="137160"/>
          <a:lstStyle/>
          <a:p>
            <a:pPr algn="l">
              <a:defRPr sz="1600" b="1">
                <a:solidFill>
                  <a:srgbClr val="997304"/>
                </a:solidFill>
              </a:defRPr>
            </a:pPr>
            <a:r>
              <a:t>Salt Timing</a:t>
            </a:r>
          </a:p>
          <a:p>
            <a:pPr algn="l">
              <a:spcBef>
                <a:spcPts val="600"/>
              </a:spcBef>
              <a:defRPr sz="1200">
                <a:solidFill>
                  <a:srgbClr val="997304"/>
                </a:solidFill>
              </a:defRPr>
            </a:pPr>
            <a:r>
              <a:t>Add salt at the end. Reducing intensifies saltiness during cooking.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Toppings and Pairings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 cream: cool contrast</a:t>
            </a:r>
          </a:p>
          <a:p>
            <a:pPr/>
            <a:r>
              <a:t>Sharp cheddar: melty richness</a:t>
            </a:r>
          </a:p>
          <a:p>
            <a:pPr/>
            <a:r>
              <a:t>Fresh cilantro: brightness</a:t>
            </a:r>
          </a:p>
          <a:p>
            <a:pPr/>
            <a:r>
              <a:t>Diced onion: crunch</a:t>
            </a:r>
          </a:p>
          <a:p>
            <a:pPr/>
            <a:r>
              <a:t>Cornbread: perfect pairing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 Cooking!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with a classic recipe</a:t>
            </a:r>
          </a:p>
          <a:p>
            <a:pPr/>
            <a:r>
              <a:t>Adjust heat to your taste</a:t>
            </a:r>
          </a:p>
          <a:p>
            <a:pPr/>
            <a:r>
              <a:t>Host a chili cook-off</a:t>
            </a:r>
          </a:p>
          <a:p>
            <a:pPr/>
            <a:r>
              <a:t>Share your best version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reative Vibrant">
      <a:dk1>
        <a:srgbClr val="1A1A2E"/>
      </a:dk1>
      <a:lt1>
        <a:srgbClr val="FFFFFF"/>
      </a:lt1>
      <a:dk2>
        <a:srgbClr val="555555"/>
      </a:dk2>
      <a:lt2>
        <a:srgbClr val="FFF4E6"/>
      </a:lt2>
      <a:accent1>
        <a:srgbClr val="FF6B35"/>
      </a:accent1>
      <a:accent2>
        <a:srgbClr val="004E89"/>
      </a:accent2>
      <a:accent3>
        <a:srgbClr val="F9C80E"/>
      </a:accent3>
      <a:accent4>
        <a:srgbClr val="004E89"/>
      </a:accent4>
      <a:accent5>
        <a:srgbClr val="F9C80E"/>
      </a:accent5>
      <a:accent6>
        <a:srgbClr val="FF6B3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Art of Chili</dc:title>
  <dc:subject>Comprehensive guide to making chili with recipes and techniques</dc:subject>
  <dc:creator>Slideforge Examples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