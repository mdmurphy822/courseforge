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today's exploration of science. We'll discover not just what scientists know, but how they come to know it. Science is fundamentally about asking questions and finding evidence-based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Science is more than memorizing facts. It's a way of thinking critically about the world. Every scientific claim must be supported by evidence that others can verify and replicate.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scientific method isn't always linear. Scientists often cycle back through steps as they refine their understanding. The key is that every step must be documented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we categorize sciences for convenience, modern research often crosses these boundaries. Climate science, for example, combines chemistry, physics, biology, and earth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vaccines protecting public health to the smartphones in your pocket, science shapes every aspect of modern life. Scientific literacy helps you make informed decisions as citizens and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thinking is the foundation of scientific inquiry. Scientists must constantly question their assumptions and be willing to change their minds when evidence demands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discoveries didn't happen overnight. Each required years of dedicated work, countless failures, and often collaboration across many scientists. Science is a cumulative, communal endeavor.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represent centuries of scientific investigation. Each fact was once unknown, discovered through careful observation and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Science isn't something that only happens in laboratories. You can practice scientific thinking every day by observing, questioning, and testing your ideas about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open the floor for questions. Think about how you might apply scientific thinking to something you're curious about in your own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Tin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EF"/>
          </a:solidFill>
          <a:ln>
            <a:noFill/>
          </a:ln>
        </p:spPr>
      </p:sp>
      <p:sp>
        <p:nvSpPr>
          <p:cNvPr id="101" name="Header Bar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5C4D7D"/>
          </a:solidFill>
          <a:ln>
            <a:noFill/>
          </a:ln>
        </p:spPr>
      </p:sp>
      <p:sp>
        <p:nvSpPr>
          <p:cNvPr id="102" name="Bottom Accent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E07A5F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Exploring Science: How We Discover the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How Scientists Think and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Systematic study of nature</a:t>
            </a:r>
          </a:p>
          <a:p>
            <a:pPr/>
            <a:r>
              <a:t>Based on evidence and data</a:t>
            </a:r>
          </a:p>
          <a:p>
            <a:pPr/>
            <a:r>
              <a:t>Uses testable hypotheses</a:t>
            </a:r>
          </a:p>
          <a:p>
            <a:pPr/>
            <a:r>
              <a:t>Builds on previous knowledge</a:t>
            </a:r>
          </a:p>
          <a:p>
            <a:pPr/>
            <a:r>
              <a:t>Self-correcting through peer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Scientific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2C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A systematic approach to investigating phenomena, acquiring new knowledge, and correcting previous errors through observation and experimentation.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• Observation: notice phenomena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Hypothesis: propose explanation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Experiment: test the hypothesis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Analysis: evaluate results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Conclusion: accept or revise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Science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Life Sciences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Biology: living organisms</a:t>
            </a:r>
          </a:p>
          <a:p>
            <a:pPr/>
            <a:r>
              <a:t>Ecology: ecosystems</a:t>
            </a:r>
          </a:p>
          <a:p>
            <a:pPr/>
            <a:r>
              <a:t>Medicine: human health</a:t>
            </a:r>
          </a:p>
          <a:p>
            <a:pPr/>
            <a:r>
              <a:t>Genetics: heredity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Sciences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Physics: matter and energy</a:t>
            </a:r>
          </a:p>
          <a:p>
            <a:pPr/>
            <a:r>
              <a:t>Chemistry: substances</a:t>
            </a:r>
          </a:p>
          <a:p>
            <a:pPr/>
            <a:r>
              <a:t>Astronomy: space</a:t>
            </a:r>
          </a:p>
          <a:p>
            <a:pPr/>
            <a:r>
              <a:t>Earth Science: our planet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Science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Solves real-world problems</a:t>
            </a:r>
          </a:p>
          <a:p>
            <a:pPr/>
            <a:r>
              <a:t>Drives medical breakthroughs</a:t>
            </a:r>
          </a:p>
          <a:p>
            <a:pPr/>
            <a:r>
              <a:t>Protects our environment</a:t>
            </a:r>
          </a:p>
          <a:p>
            <a:pPr/>
            <a:r>
              <a:t>Powers technological innovation</a:t>
            </a:r>
          </a:p>
          <a:p>
            <a:pPr/>
            <a:r>
              <a:t>Informs policy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Thinking Like a Scientist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Stay Curious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Ask 'why' and 'how' about everything you observe in the world around you.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80"/>
            <a:ext cx="8229600" cy="914400"/>
          </a:xfrm>
          <a:prstGeom prst="roundRect">
            <a:avLst/>
          </a:prstGeom>
          <a:solidFill>
            <a:srgbClr val="DC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17A2B8"/>
                </a:solidFill>
              </a:defRPr>
            </a:pPr>
            <a:r>
              <a:t>Embrace Uncertainty</a:t>
            </a:r>
          </a:p>
          <a:p>
            <a:pPr algn="l">
              <a:spcBef>
                <a:spcPts val="600"/>
              </a:spcBef>
              <a:defRPr sz="1200">
                <a:solidFill>
                  <a:srgbClr val="17A2B8"/>
                </a:solidFill>
              </a:defRPr>
            </a:pPr>
            <a:r>
              <a:t>Good scientists say 'I don't know yet' and see it as an opportunity to learn.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137160"/>
          <a:lstStyle/>
          <a:p>
            <a:pPr algn="l">
              <a:defRPr sz="1600" b="1">
                <a:solidFill>
                  <a:srgbClr val="997304"/>
                </a:solidFill>
              </a:defRPr>
            </a:pPr>
            <a:r>
              <a:t>Avoid Bias</a:t>
            </a:r>
          </a:p>
          <a:p>
            <a:pPr algn="l">
              <a:spcBef>
                <a:spcPts val="600"/>
              </a:spcBef>
              <a:defRPr sz="1200">
                <a:solidFill>
                  <a:srgbClr val="997304"/>
                </a:solidFill>
              </a:defRPr>
            </a:pPr>
            <a:r>
              <a:t>Don't let what you expect to find influence what you actually observe.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Famous Discoveries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Newton: laws of motion</a:t>
            </a:r>
          </a:p>
          <a:p>
            <a:pPr/>
            <a:r>
              <a:t>Darwin: evolution</a:t>
            </a:r>
          </a:p>
          <a:p>
            <a:pPr/>
            <a:r>
              <a:t>Curie: radioactivity</a:t>
            </a:r>
          </a:p>
          <a:p>
            <a:pPr/>
            <a:r>
              <a:t>Einstein: relativity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Watson/Crick: DNA structure</a:t>
            </a:r>
          </a:p>
          <a:p>
            <a:pPr/>
            <a:r>
              <a:t>Salk: polio vaccine</a:t>
            </a:r>
          </a:p>
          <a:p>
            <a:pPr/>
            <a:r>
              <a:t>Hubble: expanding universe</a:t>
            </a:r>
          </a:p>
          <a:p>
            <a:pPr/>
            <a:r>
              <a:t>CRISPR: gene editing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Science by the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6576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5AA0"/>
                </a:solidFill>
              </a:defRPr>
            </a:pPr>
            <a: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3545"/>
                </a:solidFill>
              </a:defRPr>
            </a:pPr>
            <a:r>
              <a:t>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5234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Elements Discovered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3657600" cy="201168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</a:defRPr>
            </a:pPr>
            <a:r>
              <a:t>37T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3545"/>
                </a:solidFill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5234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Cells in Human Body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36576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5AA0"/>
                </a:solidFill>
              </a:defRPr>
            </a:pPr>
            <a:r>
              <a:t>4.5B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977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3545"/>
                </a:solidFill>
              </a:defRPr>
            </a:pPr>
            <a: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4690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Years Earth's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840480"/>
            <a:ext cx="36576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023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5AA0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977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3545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94690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Planets in Solar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 It Yourself!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your own experiment</a:t>
            </a:r>
          </a:p>
          <a:p>
            <a:pPr/>
            <a:r>
              <a:t>Keep a science journal</a:t>
            </a:r>
          </a:p>
          <a:p>
            <a:pPr/>
            <a:r>
              <a:t>Research a phenomenon</a:t>
            </a:r>
          </a:p>
          <a:p>
            <a:pPr/>
            <a:r>
              <a:t>Join a science club</a:t>
            </a:r>
          </a:p>
          <a:p>
            <a:pPr/>
            <a:r>
              <a:t>Enter a science fair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Science: evidence-based inquiry</a:t>
            </a:r>
          </a:p>
          <a:p>
            <a:pPr/>
            <a:r>
              <a:t>Method: systematic investigation</a:t>
            </a:r>
          </a:p>
          <a:p>
            <a:pPr/>
            <a:r>
              <a:t>Types: life and physical</a:t>
            </a:r>
          </a:p>
          <a:p>
            <a:pPr/>
            <a:r>
              <a:t>Impact: shapes modern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ducational Academic">
      <a:dk1>
        <a:srgbClr val="3D405B"/>
      </a:dk1>
      <a:lt1>
        <a:srgbClr val="FEF9F3"/>
      </a:lt1>
      <a:dk2>
        <a:srgbClr val="6B6B6B"/>
      </a:dk2>
      <a:lt2>
        <a:srgbClr val="F8F4EF"/>
      </a:lt2>
      <a:accent1>
        <a:srgbClr val="5C4D7D"/>
      </a:accent1>
      <a:accent2>
        <a:srgbClr val="8B7355"/>
      </a:accent2>
      <a:accent3>
        <a:srgbClr val="E07A5F"/>
      </a:accent3>
      <a:accent4>
        <a:srgbClr val="8B7355"/>
      </a:accent4>
      <a:accent5>
        <a:srgbClr val="E07A5F"/>
      </a:accent5>
      <a:accent6>
        <a:srgbClr val="5C4D7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Science: How We Discover the World</dc:title>
  <dc:subject>High school science education covering scientific method and research concepts</dc:subject>
  <dc:creator>Slideforge Examples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